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Ubuntu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buntu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buntu-bold.fntdata"/><Relationship Id="rId6" Type="http://schemas.openxmlformats.org/officeDocument/2006/relationships/slide" Target="slides/slide1.xml"/><Relationship Id="rId18" Type="http://schemas.openxmlformats.org/officeDocument/2006/relationships/font" Target="fonts/Ubuntu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robolivre.org/" TargetMode="External"/><Relationship Id="rId4" Type="http://schemas.openxmlformats.org/officeDocument/2006/relationships/hyperlink" Target="http://www.abble.com.br/prof-lab/" TargetMode="External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5.jpg"/><Relationship Id="rId5" Type="http://schemas.openxmlformats.org/officeDocument/2006/relationships/image" Target="../media/image4.jpg"/><Relationship Id="rId6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hingspeak.com/" TargetMode="External"/><Relationship Id="rId4" Type="http://schemas.openxmlformats.org/officeDocument/2006/relationships/hyperlink" Target="http://customer.cloudmqtt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arduino.esp8266.com/stable/package_esp8266com_index.jso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gif"/><Relationship Id="rId4" Type="http://schemas.openxmlformats.org/officeDocument/2006/relationships/hyperlink" Target="mailto:maregito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7376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effectLst>
            <a:outerShdw blurRad="85725" rotWithShape="0" algn="bl" dir="5400000" dist="19050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00">
                <a:solidFill>
                  <a:srgbClr val="F3F3F3"/>
                </a:solidFill>
                <a:latin typeface="Ubuntu"/>
                <a:ea typeface="Ubuntu"/>
                <a:cs typeface="Ubuntu"/>
                <a:sym typeface="Ubuntu"/>
              </a:rPr>
              <a:t>Temperatura, Umidade e Luminosidade nas nuvens se Preparando para o Fiware!​</a:t>
            </a:r>
            <a:endParaRPr b="1" sz="4600">
              <a:solidFill>
                <a:srgbClr val="F3F3F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200">
                <a:solidFill>
                  <a:srgbClr val="FFFFFF"/>
                </a:solidFill>
              </a:rPr>
              <a:t>#CPBA2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EAD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idx="1" type="body"/>
          </p:nvPr>
        </p:nvSpPr>
        <p:spPr>
          <a:xfrm>
            <a:off x="1853600" y="1498025"/>
            <a:ext cx="7064700" cy="28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Coordenador  educacional do </a:t>
            </a:r>
            <a:r>
              <a:rPr lang="pt-BR" u="sng">
                <a:solidFill>
                  <a:srgbClr val="4285F4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Robô Livre</a:t>
            </a:r>
            <a:r>
              <a:rPr lang="pt-BR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Gosto de tecnologia, de desenhar e aquarelar, de inventar coisas com sucata. Gosto de viajar, cozinhar, fotografar e ler. Educador de robótica e software livre, educador do </a:t>
            </a:r>
            <a:r>
              <a:rPr lang="pt-BR" u="sng">
                <a:solidFill>
                  <a:srgbClr val="4285F4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ProfLab, </a:t>
            </a:r>
            <a:r>
              <a:rPr lang="pt-BR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acadêmico de Pedagogia, militante-ativista do software livre, membro da Robótica Livre, da MetaReciclagem e do JabutiEdu.org. </a:t>
            </a:r>
            <a:endParaRPr/>
          </a:p>
        </p:txBody>
      </p:sp>
      <p:pic>
        <p:nvPicPr>
          <p:cNvPr id="61" name="Shape 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56425" y="-220483"/>
            <a:ext cx="4592375" cy="64934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840000" dist="85725">
              <a:srgbClr val="000000">
                <a:alpha val="50000"/>
              </a:srgbClr>
            </a:outerShdw>
          </a:effectLst>
        </p:spPr>
      </p:pic>
      <p:sp>
        <p:nvSpPr>
          <p:cNvPr id="62" name="Shape 62"/>
          <p:cNvSpPr txBox="1"/>
          <p:nvPr/>
        </p:nvSpPr>
        <p:spPr>
          <a:xfrm>
            <a:off x="2232825" y="611375"/>
            <a:ext cx="36816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600"/>
              <a:t>Marcos Egito</a:t>
            </a:r>
            <a:endParaRPr b="1" i="1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CFE2F3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>
            <p:ph type="title"/>
          </p:nvPr>
        </p:nvSpPr>
        <p:spPr>
          <a:xfrm>
            <a:off x="1561025" y="37857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600"/>
              <a:t>Ewerton  Mascena</a:t>
            </a:r>
            <a:endParaRPr b="1" i="1" sz="3600"/>
          </a:p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2711300" y="1152475"/>
            <a:ext cx="61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Educador Social de Robótica Educacional Livre, Recondicionamento de Computadores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 e Informática Básica no Movimento Pró Criança, Graduado em Licenciatura de Ciências Biológicas na Universidade de Pernambuco, militante de software livre, membro da Robótica Livre e participante da rede Metarreciclagem.</a:t>
            </a:r>
            <a:br>
              <a:rPr b="1" lang="pt-BR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Shape 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50" y="1070625"/>
            <a:ext cx="2406501" cy="3002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rgbClr val="4285F4"/>
                </a:solidFill>
                <a:latin typeface="Ubuntu"/>
                <a:ea typeface="Ubuntu"/>
                <a:cs typeface="Ubuntu"/>
                <a:sym typeface="Ubuntu"/>
              </a:rPr>
              <a:t>Porque </a:t>
            </a:r>
            <a:r>
              <a:rPr b="1" lang="pt-BR" sz="2400">
                <a:solidFill>
                  <a:srgbClr val="4285F4"/>
                </a:solidFill>
                <a:latin typeface="Ubuntu"/>
                <a:ea typeface="Ubuntu"/>
                <a:cs typeface="Ubuntu"/>
                <a:sym typeface="Ubuntu"/>
              </a:rPr>
              <a:t>se Preparando para o Fiware ...</a:t>
            </a:r>
            <a:endParaRPr sz="2400">
              <a:solidFill>
                <a:srgbClr val="4285F4"/>
              </a:solidFill>
            </a:endParaRPr>
          </a:p>
        </p:txBody>
      </p:sp>
      <p:pic>
        <p:nvPicPr>
          <p:cNvPr id="75" name="Shape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50" y="1090375"/>
            <a:ext cx="5536024" cy="22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Shape 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0075" y="1960750"/>
            <a:ext cx="2233100" cy="2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Shape 77"/>
          <p:cNvSpPr/>
          <p:nvPr/>
        </p:nvSpPr>
        <p:spPr>
          <a:xfrm>
            <a:off x="3719474" y="3508750"/>
            <a:ext cx="1875900" cy="9969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20124D"/>
                </a:solidFill>
              </a:rPr>
              <a:t>Flood</a:t>
            </a:r>
            <a:endParaRPr b="1">
              <a:solidFill>
                <a:srgbClr val="20124D"/>
              </a:solidFill>
            </a:endParaRPr>
          </a:p>
          <a:p>
            <a:pPr indent="0" lvl="0" mar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20124D"/>
                </a:solidFill>
              </a:rPr>
              <a:t>Fiware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78" name="Shape 78"/>
          <p:cNvSpPr/>
          <p:nvPr/>
        </p:nvSpPr>
        <p:spPr>
          <a:xfrm>
            <a:off x="2696110" y="3508750"/>
            <a:ext cx="1875900" cy="996900"/>
          </a:xfrm>
          <a:prstGeom prst="homePlate">
            <a:avLst>
              <a:gd fmla="val 50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Prever se</a:t>
            </a:r>
            <a:br>
              <a:rPr b="1" lang="pt-BR">
                <a:solidFill>
                  <a:srgbClr val="FFFFFF"/>
                </a:solidFill>
              </a:rPr>
            </a:br>
            <a:r>
              <a:rPr b="1" lang="pt-BR">
                <a:solidFill>
                  <a:srgbClr val="FFFFFF"/>
                </a:solidFill>
              </a:rPr>
              <a:t>vai alagar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9" name="Shape 79"/>
          <p:cNvSpPr/>
          <p:nvPr/>
        </p:nvSpPr>
        <p:spPr>
          <a:xfrm>
            <a:off x="1515150" y="3508750"/>
            <a:ext cx="1784400" cy="996900"/>
          </a:xfrm>
          <a:prstGeom prst="homePlate">
            <a:avLst>
              <a:gd fmla="val 50000" name="adj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 Medir</a:t>
            </a:r>
            <a:endParaRPr b="1">
              <a:solidFill>
                <a:srgbClr val="FFFFFF"/>
              </a:solidFill>
            </a:endParaRPr>
          </a:p>
          <a:p>
            <a:pPr indent="0" lvl="0" mar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 o Nível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0" name="Shape 80"/>
          <p:cNvSpPr/>
          <p:nvPr/>
        </p:nvSpPr>
        <p:spPr>
          <a:xfrm>
            <a:off x="491750" y="3508750"/>
            <a:ext cx="1608300" cy="996900"/>
          </a:xfrm>
          <a:prstGeom prst="homePlate">
            <a:avLst>
              <a:gd fmla="val 50000" name="adj"/>
            </a:avLst>
          </a:prstGeom>
          <a:solidFill>
            <a:srgbClr val="2012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alagamento</a:t>
            </a:r>
            <a:endParaRPr b="1">
              <a:solidFill>
                <a:srgbClr val="FFFFFF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da Favela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Memaker’s em Portugal.</a:t>
            </a:r>
            <a:endParaRPr/>
          </a:p>
        </p:txBody>
      </p:sp>
      <p:pic>
        <p:nvPicPr>
          <p:cNvPr id="86" name="Shape 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400" y="91849"/>
            <a:ext cx="2691900" cy="2019000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Shape 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475" y="2706697"/>
            <a:ext cx="3089400" cy="2317200"/>
          </a:xfrm>
          <a:prstGeom prst="ellipse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Shape 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6225" y="883550"/>
            <a:ext cx="3089100" cy="2317200"/>
          </a:xfrm>
          <a:prstGeom prst="star12">
            <a:avLst>
              <a:gd fmla="val 37500" name="adj"/>
            </a:avLst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" name="Shape 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53591">
            <a:off x="3839161" y="1460053"/>
            <a:ext cx="5142478" cy="342850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Shape 90"/>
          <p:cNvSpPr txBox="1"/>
          <p:nvPr/>
        </p:nvSpPr>
        <p:spPr>
          <a:xfrm>
            <a:off x="2950525" y="1017725"/>
            <a:ext cx="1129800" cy="13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Fiware </a:t>
            </a:r>
            <a:endParaRPr b="1"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Global </a:t>
            </a:r>
            <a:endParaRPr b="1" sz="1800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Summit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fizemos ...</a:t>
            </a:r>
            <a:endParaRPr/>
          </a:p>
        </p:txBody>
      </p:sp>
      <p:pic>
        <p:nvPicPr>
          <p:cNvPr id="96" name="Shape 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68021"/>
            <a:ext cx="2143125" cy="1753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Shape 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5450" y="1468025"/>
            <a:ext cx="1655100" cy="165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Shape 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1200" y="1468025"/>
            <a:ext cx="1753100" cy="17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Shape 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9750" y="1517025"/>
            <a:ext cx="1655100" cy="16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Shape 100"/>
          <p:cNvSpPr txBox="1"/>
          <p:nvPr/>
        </p:nvSpPr>
        <p:spPr>
          <a:xfrm>
            <a:off x="2551825" y="3274300"/>
            <a:ext cx="175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ESP 8266 nodeMCU</a:t>
            </a:r>
            <a:endParaRPr/>
          </a:p>
        </p:txBody>
      </p:sp>
      <p:sp>
        <p:nvSpPr>
          <p:cNvPr id="101" name="Shape 101"/>
          <p:cNvSpPr txBox="1"/>
          <p:nvPr/>
        </p:nvSpPr>
        <p:spPr>
          <a:xfrm>
            <a:off x="506663" y="3346950"/>
            <a:ext cx="175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DHT11</a:t>
            </a:r>
            <a:endParaRPr/>
          </a:p>
        </p:txBody>
      </p:sp>
      <p:sp>
        <p:nvSpPr>
          <p:cNvPr id="102" name="Shape 102"/>
          <p:cNvSpPr txBox="1"/>
          <p:nvPr/>
        </p:nvSpPr>
        <p:spPr>
          <a:xfrm>
            <a:off x="5071150" y="3123125"/>
            <a:ext cx="175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LDR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7020700" y="3274300"/>
            <a:ext cx="175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Resitor de 10k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Montando o sensor...</a:t>
            </a:r>
            <a:endParaRPr/>
          </a:p>
        </p:txBody>
      </p:sp>
      <p:pic>
        <p:nvPicPr>
          <p:cNvPr id="109" name="Shape 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875" y="1223300"/>
            <a:ext cx="621924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 u="sng">
                <a:solidFill>
                  <a:schemeClr val="hlink"/>
                </a:solidFill>
                <a:hlinkClick r:id="rId3"/>
              </a:rPr>
              <a:t>http://thingspeak.com</a:t>
            </a:r>
            <a:endParaRPr b="1" sz="3000"/>
          </a:p>
          <a:p>
            <a:pPr indent="0" lvl="0" marL="0" algn="ctr">
              <a:spcBef>
                <a:spcPts val="1600"/>
              </a:spcBef>
              <a:spcAft>
                <a:spcPts val="0"/>
              </a:spcAft>
              <a:buNone/>
            </a:pPr>
            <a:br>
              <a:rPr b="1" lang="pt-BR" sz="3000"/>
            </a:br>
            <a:r>
              <a:rPr b="1" lang="pt-BR" sz="3000" u="sng">
                <a:solidFill>
                  <a:schemeClr val="hlink"/>
                </a:solidFill>
                <a:hlinkClick r:id="rId4"/>
              </a:rPr>
              <a:t>http://customer.cloudmqtt.com</a:t>
            </a:r>
            <a:endParaRPr b="1" sz="3000"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Organizando a IDE </a:t>
            </a:r>
            <a:endParaRPr/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311700" y="1763825"/>
            <a:ext cx="8520600" cy="25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3000" u="sng">
                <a:solidFill>
                  <a:schemeClr val="hlink"/>
                </a:solidFill>
                <a:hlinkClick r:id="rId3"/>
              </a:rPr>
              <a:t>http://arduino.esp8266.com/stable/package_esp8266com_index.json</a:t>
            </a:r>
            <a:br>
              <a:rPr b="1" lang="pt-BR" sz="3000"/>
            </a:br>
            <a:br>
              <a:rPr b="1" lang="pt-BR" sz="3000"/>
            </a:br>
            <a:r>
              <a:rPr b="1" lang="pt-BR" sz="3000">
                <a:solidFill>
                  <a:schemeClr val="dk1"/>
                </a:solidFill>
              </a:rPr>
              <a:t>esp8266 by ESP8266 Community </a:t>
            </a:r>
            <a:endParaRPr b="1"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Código ...</a:t>
            </a:r>
            <a:endParaRPr/>
          </a:p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311700" y="2335350"/>
            <a:ext cx="8520600" cy="7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3600"/>
              <a:t>https://github.com/maregito/CPBR2</a:t>
            </a:r>
            <a:endParaRPr b="1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REDE:</a:t>
            </a:r>
            <a:endParaRPr b="1"/>
          </a:p>
          <a:p>
            <a:pPr indent="0" lvl="0" marL="0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3600"/>
              <a:t>TP-LINK_4DC112</a:t>
            </a:r>
            <a:br>
              <a:rPr lang="pt-BR"/>
            </a:br>
            <a:br>
              <a:rPr b="1" lang="pt-BR"/>
            </a:br>
            <a:r>
              <a:rPr b="1" lang="pt-BR"/>
              <a:t>PASS:</a:t>
            </a:r>
            <a:endParaRPr b="1"/>
          </a:p>
          <a:p>
            <a:pPr indent="0" lvl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3600"/>
              <a:t>ED4DC112</a:t>
            </a:r>
            <a:endParaRPr b="1"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351C7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Shape 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125" y="956925"/>
            <a:ext cx="476250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Shape 137"/>
          <p:cNvSpPr txBox="1"/>
          <p:nvPr/>
        </p:nvSpPr>
        <p:spPr>
          <a:xfrm>
            <a:off x="1959925" y="155925"/>
            <a:ext cx="4518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FFFFF"/>
                </a:solidFill>
              </a:rPr>
              <a:t>Obrigado!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38" name="Shape 138"/>
          <p:cNvSpPr txBox="1"/>
          <p:nvPr/>
        </p:nvSpPr>
        <p:spPr>
          <a:xfrm>
            <a:off x="595425" y="3705450"/>
            <a:ext cx="73629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 u="sng">
                <a:solidFill>
                  <a:srgbClr val="FFFFFF"/>
                </a:solidFill>
                <a:hlinkClick r:id="rId4"/>
              </a:rPr>
              <a:t>maregito@gmail.com</a:t>
            </a:r>
            <a:br>
              <a:rPr b="1" lang="pt-BR" sz="2400">
                <a:solidFill>
                  <a:srgbClr val="FFFFFF"/>
                </a:solidFill>
              </a:rPr>
            </a:br>
            <a:r>
              <a:rPr b="1" lang="pt-BR" sz="2400">
                <a:solidFill>
                  <a:srgbClr val="FFFFFF"/>
                </a:solidFill>
              </a:rPr>
              <a:t>ewertongleibson@gmail.com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